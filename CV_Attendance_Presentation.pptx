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project. This system automates attendance using your face — no need to sign a register. It also checks you are physically present, not just holding up a photo.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Traditional attendance has 4 main problems. Explain each one briefly. The most important one to highlight is proxy attendance and photo spoofing — that's exactly what our project solves.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step. Emphasize step 5 — depth verification — as what makes this system secure and unique compared to a basic face recognition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end-to-end pipeline. Each box maps to a topic from your CV syllabus. When the teacher asks about any topic, point to the matching 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row is a syllabus topic. The left column is the technique name, middle is the code, right is WHY we use it. For your viva: teacher will definitely ask 'why grayscale?' and 'what is the difference between Gaussian and Median filter?'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most important viva questions here: 1) What is HOG? 2) What is the difference between HOG and SIFT? HOG = shape descriptor (good for recognition), SIFT = keypoint detector (good for matching between images under different conditions).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viva question: What does the confidence number mean in LBPH? Lower confidence = better match (it's a distance metric, not a percentage). Threshold of 100 means: if the face is more than 100 units different from any training sample, it's unknown.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impressive part of the project. Key question: 'How do you know it is a real face and not a photo?' Answer: A photo is flat — it has zero depth variation internally. A real face has nose, cheekbones, forehead all at different depths. Triangulation measures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teacher asks 'why Google Colab?' — free GPU, no installation needed, runs in browser, great for students. If asked 'why OpenCV?' — it is the standard library for computer vision, has everything we need built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your proof to the teacher that the project covers the full syllabus. Point to each row and mention which file in your code implements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doing the demo: first show the preprocessing outputs folder, then the recognition demo grid, then the attendance.csv file. These three things are the most visual proof that your system 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strong. Offer to run the demo live. If teacher asks for improvements: mention adding deep learning (CNN) instead of LBPH, or using a proper depth camera like Intel RealSense for even more accurate depth.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0891B2">
              <a:alpha val="18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 Computer Science  ·  Computer Vision Project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 System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BAE6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Face Recognition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7DD3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Depth Verification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48640" y="2999232"/>
            <a:ext cx="22860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200400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004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0" y="3200400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32004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3200400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32004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LBPH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675888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8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6758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60320" y="3675888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8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0" y="36758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3675888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8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36758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Stereo Vision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for: Computer Vision  |  Semester Project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3931920" cy="1508760"/>
          </a:xfrm>
          <a:prstGeom prst="roundRect">
            <a:avLst>
              <a:gd name="adj" fmla="val 4848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" y="1298448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298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✗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78992" y="12801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Registers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16459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Time-consuming, error-prone, can be falsified easily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3931920" cy="1508760"/>
          </a:xfrm>
          <a:prstGeom prst="roundRect">
            <a:avLst>
              <a:gd name="adj" fmla="val 4848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73168" y="1298448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1298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✗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76672" y="12801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Attendance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76672" y="16459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 marks attendance on your behalf — unfair &amp; undetected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3931920" cy="1508760"/>
          </a:xfrm>
          <a:prstGeom prst="roundRect">
            <a:avLst>
              <a:gd name="adj" fmla="val 4848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" y="3035808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3035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✗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78992" y="30175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Spoofing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78992" y="33832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face systems fooled by holding up a photo on a phone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63440" y="2926080"/>
            <a:ext cx="3931920" cy="1508760"/>
          </a:xfrm>
          <a:prstGeom prst="roundRect">
            <a:avLst>
              <a:gd name="adj" fmla="val 4848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73168" y="3035808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3035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✗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76672" y="30175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76672" y="33832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must check every student — wastes 5–10 min per class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25880" y="1234440"/>
            <a:ext cx="594360" cy="594360"/>
          </a:xfrm>
          <a:prstGeom prst="ellipse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1234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2585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captures live video feed in real time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54680" y="114300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60520" y="1234440"/>
            <a:ext cx="594360" cy="594360"/>
          </a:xfrm>
          <a:prstGeom prst="ellipse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60520" y="1234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154680" y="19202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46120" y="22585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Grayscale, filter noise, enhance contrast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89320" y="114300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995160" y="1234440"/>
            <a:ext cx="594360" cy="594360"/>
          </a:xfrm>
          <a:prstGeom prst="ellipse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95160" y="1234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89320" y="19202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80760" y="22585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Haar Cascade locates faces in the frame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301752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325880" y="3108960"/>
            <a:ext cx="594360" cy="594360"/>
          </a:xfrm>
          <a:prstGeom prst="ellipse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25880" y="3108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20040" y="37947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11480" y="413308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LBPH matches face to registered database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154680" y="301752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60520" y="3108960"/>
            <a:ext cx="594360" cy="594360"/>
          </a:xfrm>
          <a:prstGeom prst="ellipse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60520" y="3108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154680" y="37947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246120" y="413308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check confirms a real 3D face (not photo)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89320" y="301752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995160" y="3108960"/>
            <a:ext cx="594360" cy="594360"/>
          </a:xfrm>
          <a:prstGeom prst="ellipse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95160" y="3108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989320" y="37947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80760" y="413308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saved to CSV and database automatically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1920240" cy="1463040"/>
          </a:xfrm>
          <a:prstGeom prst="roundRect">
            <a:avLst>
              <a:gd name="adj" fmla="val 75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3258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Input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38328" y="192024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cv2.VideoCapture(0)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194560" y="1874520"/>
            <a:ext cx="24688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41448" y="1143000"/>
            <a:ext cx="1920240" cy="1463040"/>
          </a:xfrm>
          <a:prstGeom prst="roundRect">
            <a:avLst>
              <a:gd name="adj" fmla="val 750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41448" y="13258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05456" y="192024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· Blur · CLAHE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61688" y="1874520"/>
            <a:ext cx="24688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08576" y="1143000"/>
            <a:ext cx="1920240" cy="1463040"/>
          </a:xfrm>
          <a:prstGeom prst="roundRect">
            <a:avLst>
              <a:gd name="adj" fmla="val 75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08576" y="13258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72584" y="192024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Haar Cascade XML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528816" y="1874520"/>
            <a:ext cx="24688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75704" y="1143000"/>
            <a:ext cx="1920240" cy="1463040"/>
          </a:xfrm>
          <a:prstGeom prst="roundRect">
            <a:avLst>
              <a:gd name="adj" fmla="val 7500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75704" y="13258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39712" y="192024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 · SIFT · LBP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063240"/>
            <a:ext cx="1920240" cy="146304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74320" y="32461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8328" y="384048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LBPH Recognizer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194560" y="3794760"/>
            <a:ext cx="24688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41448" y="3063240"/>
            <a:ext cx="1920240" cy="1463040"/>
          </a:xfrm>
          <a:prstGeom prst="roundRect">
            <a:avLst>
              <a:gd name="adj" fmla="val 75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441448" y="32461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Verification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505456" y="384048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Stereo · Triangulation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361688" y="3794760"/>
            <a:ext cx="24688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08576" y="3063240"/>
            <a:ext cx="1920240" cy="1463040"/>
          </a:xfrm>
          <a:prstGeom prst="roundRect">
            <a:avLst>
              <a:gd name="adj" fmla="val 75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608576" y="32461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DB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672584" y="384048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+ SQLite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— Image Preprocessing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70408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1691640" cy="704088"/>
          </a:xfrm>
          <a:prstGeom prst="roundRect">
            <a:avLst>
              <a:gd name="adj" fmla="val 9091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16002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029968" y="105156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cv2.cvtColor(img, COLOR_BGR2GRAY)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029968" y="1353312"/>
            <a:ext cx="6675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3-channel to 1-channel. Face detectors work on single channel. Reduces computation by 66%.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792224"/>
            <a:ext cx="8595360" cy="70408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792224"/>
            <a:ext cx="1691640" cy="704088"/>
          </a:xfrm>
          <a:prstGeom prst="roundRect">
            <a:avLst>
              <a:gd name="adj" fmla="val 9091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792224"/>
            <a:ext cx="16002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Blur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029968" y="183794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cv2.GaussianBlur(gray,(5,5),0)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29968" y="2139696"/>
            <a:ext cx="6675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each pixel with weighted average of neighbours. Removes random noise. Bell-curve weights.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578608"/>
            <a:ext cx="8595360" cy="70408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578608"/>
            <a:ext cx="1691640" cy="704088"/>
          </a:xfrm>
          <a:prstGeom prst="roundRect">
            <a:avLst>
              <a:gd name="adj" fmla="val 9091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578608"/>
            <a:ext cx="16002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Filter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029968" y="262432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cv2.medianBlur(gray, 5)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029968" y="2926080"/>
            <a:ext cx="6675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pixel with MEDIAN of neighbours. Best for salt-and-pepper noise (random black/white dots).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364992"/>
            <a:ext cx="8595360" cy="70408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364992"/>
            <a:ext cx="1691640" cy="704088"/>
          </a:xfrm>
          <a:prstGeom prst="roundRect">
            <a:avLst>
              <a:gd name="adj" fmla="val 9091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364992"/>
            <a:ext cx="16002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 Enhancement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029968" y="341071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clahe.apply(gray)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029968" y="3712464"/>
            <a:ext cx="6675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histogram equalization. Makes dark faces in dim lighting clearer. Works per 8×8 tile.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4151376"/>
            <a:ext cx="8595360" cy="70408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4151376"/>
            <a:ext cx="1691640" cy="704088"/>
          </a:xfrm>
          <a:prstGeom prst="roundRect">
            <a:avLst>
              <a:gd name="adj" fmla="val 9091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151376"/>
            <a:ext cx="16002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Pyramid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029968" y="419709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cv2.pyrDown(img)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029968" y="4498848"/>
            <a:ext cx="6675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Shrinks image by half each level. Face detector scans at multiple scales to find big and small faces.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 — Detection &amp; Feature Extraction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023360" cy="3840480"/>
          </a:xfrm>
          <a:prstGeom prst="roundRect">
            <a:avLst>
              <a:gd name="adj" fmla="val 2381"/>
            </a:avLst>
          </a:prstGeom>
          <a:solidFill>
            <a:srgbClr val="FAF5FF"/>
          </a:solidFill>
          <a:ln w="12700">
            <a:solidFill>
              <a:srgbClr val="DDD6F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515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 Detection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15087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Haar Cascade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11480" y="180136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 detector. Uses AdaBoost to learn face vs non-face. Fast on CPU. Uses haarcascade_frontalface_default.xml trained on 10,000+ face images.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25603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Detection (Canny)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1480" y="285292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sharp brightness changes = edges. Uses 2 thresholds. Lower → weak edges. Upper → strong edges. In-between kept if connected to strong edge.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36118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Corner Detection (Harris)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11480" y="390448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junctions of edges. Looks where image changes in ALL directions. Detects eye corners, mouth corners. Formula: R = det(M) − k·trace²(M)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0" y="1005840"/>
            <a:ext cx="4297680" cy="3840480"/>
          </a:xfrm>
          <a:prstGeom prst="roundRect">
            <a:avLst>
              <a:gd name="adj" fmla="val 238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10515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Extraction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09160" y="150876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 (Histogram of Oriented Gradients)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709160" y="1801368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Divides face into 8×8 pixel cells. In each cell counts which direction edges point. Concatenates histograms → shape descriptor. Great for faces because face geometry is consistent.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09160" y="263347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SIFT (Scale-Invariant Feature Transform)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09160" y="2926080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keypoints that look the same even if image is rotated or scaled. Each keypoint gets a 128-number descriptor. Match descriptors between two images to confirm same person.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09160" y="37490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LBP (Local Binary Pattern)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709160" y="404164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pixel compared to 8 neighbours → 8-bit binary number. Histogram of all codes = face texture fingerprint. Used inside LBPH face recognizer.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4 — Face Recognition: LBPH Model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24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LBPH?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LBPH = Local Binary Pattern Histogram. For each pixel: compare to its 8 surrounding neighbours. If neighbour is brighter → write 1, darker → write 0. This gives an 8-bit code per pixel (0–255). Count how many pixels have each code in a local region → histogram. Concatenate histograms across the face → one big descriptor. Compare descriptors using Chi-square distance. Lower distance = better match.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2176272"/>
            <a:ext cx="4160520" cy="2743200"/>
          </a:xfrm>
          <a:prstGeom prst="roundRect">
            <a:avLst>
              <a:gd name="adj" fmla="val 3333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221284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Phase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624328"/>
            <a:ext cx="3886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Load all face images from dataset/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Convert to grayscale, resize to 200×200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Detect face region with Haar Cascade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Pass faces + labels to recognizer.train()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Save model to face_model.yml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2176272"/>
            <a:ext cx="4160520" cy="2743200"/>
          </a:xfrm>
          <a:prstGeom prst="roundRect">
            <a:avLst>
              <a:gd name="adj" fmla="val 3333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09160" y="221284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Recognition Phase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2624328"/>
            <a:ext cx="3886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Webcam captures live frame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Grayscale + face detection on frame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Crop face, resize to 200×200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Call recognizer.predict(face) → (label, confidence)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Confidence &lt; 100 → Mark attendance; ≥ 100 → Unknown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5 — Depth Verification &amp; Anti-Spoofing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F0FDF4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Calibration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344168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intrinsic matrix K (focal length, principal point) and distortion coefficients from chessboard images. Required before stereo depth.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4320" y="1984248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F0FDF4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202996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Epipolar Geometry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322576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two cameras see the same 3D point, the matching point in the second camera MUST lie on a specific line (epipolar line). F·x = l'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962656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F0FDF4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300837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Triangulation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300984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(Baseline × Focal_length) / Disparity. Two cameras see the same point at slightly different x-positions. This difference (disparity) gives depth.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3941064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F0FDF4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398678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Anti-Spoofing Logic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4279392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face: depth ≈ 0.5–2 m AND face region has 3D structure (depth variance &gt; 0). Photo held flat: near-zero internal depth variation → REJECT.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06440" y="1005840"/>
            <a:ext cx="3063240" cy="182880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806440" y="105156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Depth Formula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806440" y="14173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 =  (B × f) / 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897880" y="1901952"/>
            <a:ext cx="2880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depth (metres)
</a:t>
            </a:r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baseline (camera gap)
</a:t>
            </a:r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focal length (pixels)
</a:t>
            </a:r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disparity (px difference)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806440" y="2944368"/>
            <a:ext cx="3063240" cy="1920240"/>
          </a:xfrm>
          <a:prstGeom prst="roundRect">
            <a:avLst>
              <a:gd name="adj" fmla="val 4762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806440" y="299008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Logic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97880" y="3383280"/>
          <a:ext cx="2880360" cy="1389888"/>
        </p:xfrm>
        <a:graphic>
          <a:graphicData uri="http://schemas.openxmlformats.org/drawingml/2006/table">
            <a:tbl>
              <a:tblPr/>
              <a:tblGrid>
                <a:gridCol w="1440180"/>
                <a:gridCol w="14401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EE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EE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EE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EE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8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EE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EE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EE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EE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85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 0.5–2m + variance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EE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EE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EE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EE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PRESENT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EE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EE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EE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EE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depth / flat surface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EE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EE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EE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EE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SPOOF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EE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EE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EE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EE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 not detected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EE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EE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EE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EE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SKIP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EE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EE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EE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EE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188720"/>
            <a:ext cx="2423160" cy="457200"/>
          </a:xfrm>
          <a:prstGeom prst="roundRect">
            <a:avLst>
              <a:gd name="adj" fmla="val 14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887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7190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196596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code written in Python. Simple syntax, massive library ecosystem.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54680" y="109728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188720"/>
            <a:ext cx="2423160" cy="457200"/>
          </a:xfrm>
          <a:prstGeom prst="roundRect">
            <a:avLst>
              <a:gd name="adj" fmla="val 14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1887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46120" y="17190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46120" y="196596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cv2 library. Face detection, filtering, SIFT, stereo, calibration.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89320" y="109728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1188720"/>
            <a:ext cx="2423160" cy="457200"/>
          </a:xfrm>
          <a:prstGeom prst="roundRect">
            <a:avLst>
              <a:gd name="adj" fmla="val 14000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11887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scikit-image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80760" y="17190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 Features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080760" y="196596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hog() function. Extracts shape features for face description.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292608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3017520"/>
            <a:ext cx="2423160" cy="457200"/>
          </a:xfrm>
          <a:prstGeom prst="roundRect">
            <a:avLst>
              <a:gd name="adj" fmla="val 14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0175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" y="35478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&amp; Arrays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11480" y="379476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are NumPy arrays. All matrix operations (camera matrices).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154680" y="292608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46120" y="3017520"/>
            <a:ext cx="2423160" cy="457200"/>
          </a:xfrm>
          <a:prstGeom prst="roundRect">
            <a:avLst>
              <a:gd name="adj" fmla="val 14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46120" y="30175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46120" y="35478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CSV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246120" y="379476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attendance records. read_csv(), to_csv(), DataFrame.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989320" y="292608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80760" y="3017520"/>
            <a:ext cx="2423160" cy="457200"/>
          </a:xfrm>
          <a:prstGeom prst="roundRect">
            <a:avLst>
              <a:gd name="adj" fmla="val 14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80760" y="30175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080760" y="35478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080760" y="379476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GPU/CPU. Runs in browser. No local setup needed.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Topics Covered</a:t>
            </a:r>
            <a:endParaRPr lang="en-US" sz="3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4069080"/>
        </p:xfrm>
        <a:graphic>
          <a:graphicData uri="http://schemas.openxmlformats.org/drawingml/2006/table">
            <a:tbl>
              <a:tblPr/>
              <a:tblGrid>
                <a:gridCol w="3200400"/>
                <a:gridCol w="3566160"/>
                <a:gridCol w="1828800"/>
              </a:tblGrid>
              <a:tr h="3699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 Topic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Applied 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369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Formation &amp; Pixel Manipulation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 capture, BGR→Gray conversion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 &amp; 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F"/>
                    </a:solidFill>
                  </a:tcPr>
                </a:tc>
              </a:tr>
              <a:tr h="369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Spatial &amp; Linear Filtering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Gaussian blur, Median filter, CLAHE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9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Pyramids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pyrDown/pyrUp, multi-scale detection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F"/>
                    </a:solidFill>
                  </a:tcPr>
                </a:tc>
              </a:tr>
              <a:tr h="369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Detection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Canny edge detector on face regions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9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Corner Detection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Harris corner on facial landmarks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F"/>
                    </a:solidFill>
                  </a:tcPr>
                </a:tc>
              </a:tr>
              <a:tr h="369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Detection &amp; Matching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SIFT keypoints, BFMatcher, HOG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3 &amp; 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9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 Models &amp; Calibration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Intrinsic K matrix, chessboard calibration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F"/>
                    </a:solidFill>
                  </a:tcPr>
                </a:tc>
              </a:tr>
              <a:tr h="369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Lens Distortion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cv2.undistort(), radial coefficients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9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Epipolar Geometry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Fundamental matrix F, epipolar lines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F"/>
                    </a:solidFill>
                  </a:tcPr>
                </a:tc>
              </a:tr>
              <a:tr h="369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Triangulation &amp; Depth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cv2.triangulatePoints(), Z = Bf/d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Results &amp; Demo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15568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73736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AT&amp;T dataset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68880" y="105156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115568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468880" y="173736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68880" y="20116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person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0" y="105156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1115568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~90%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572000" y="173736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20116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rate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675120" y="105156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75120" y="1115568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&lt;1s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675120" y="173736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75120" y="20116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recognition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" y="2542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Outputs (shown to teacher):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2926080"/>
            <a:ext cx="411480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017520"/>
            <a:ext cx="292608" cy="29260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294436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images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31520" y="317296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Side-by-side: original, grayscale, gaussian, median, enhanced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0" y="2926080"/>
            <a:ext cx="411480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3017520"/>
            <a:ext cx="292608" cy="29260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294436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&amp; corner images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029200" y="317296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Canny edges, Harris corners marked in red, SIFT keypoints circled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4320" y="3493008"/>
            <a:ext cx="411480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584448"/>
            <a:ext cx="292608" cy="29260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351129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 visualization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31520" y="373989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direction arrows showing face structure pattern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572000" y="3493008"/>
            <a:ext cx="411480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3584448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0" y="351129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demo grid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029200" y="373989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person's test photo with predicted name &amp; confidence score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74320" y="4059936"/>
            <a:ext cx="411480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65760" y="4151376"/>
            <a:ext cx="292608" cy="2926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" y="407822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attendance.csv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31520" y="430682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Date, Time, Status — auto-generated attendance sheet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572000" y="4059936"/>
            <a:ext cx="411480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63440" y="4151376"/>
            <a:ext cx="292608" cy="2926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0" y="407822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&amp; calibration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029200" y="430682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Chessboard pattern, epipolar diagram, depth formula worked example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B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201168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274320" cy="2743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17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" y="1417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attendance using facial recognition — zero manual effort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039112"/>
            <a:ext cx="274320" cy="2743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39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20391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all major Computer Vision syllabus topics in one project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2660904"/>
            <a:ext cx="274320" cy="2743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660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60120" y="26609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verification prevents proxy and photo spoofing attacks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282696"/>
            <a:ext cx="274320" cy="2743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282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0120" y="328269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fully on Google Colab — no hardware setup required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3904488"/>
            <a:ext cx="274320" cy="2743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904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60120" y="39044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code — each phase is independent and testable separately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4617720"/>
            <a:ext cx="8046720" cy="384048"/>
          </a:xfrm>
          <a:prstGeom prst="roundRect">
            <a:avLst>
              <a:gd name="adj" fmla="val 19048"/>
            </a:avLst>
          </a:prstGeom>
          <a:solidFill>
            <a:srgbClr val="0891B2">
              <a:alpha val="30000"/>
            </a:srgbClr>
          </a:solidFill>
          <a:ln w="12700">
            <a:solidFill>
              <a:srgbClr val="0891B2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61772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—  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Attendance System with Face Recognition &amp; Depth Verification</dc:title>
  <dc:subject>PptxGenJS Presentation</dc:subject>
  <dc:creator>PptxGenJS</dc:creator>
  <cp:lastModifiedBy>PptxGenJS</cp:lastModifiedBy>
  <cp:revision>1</cp:revision>
  <dcterms:created xsi:type="dcterms:W3CDTF">2026-06-16T08:59:18Z</dcterms:created>
  <dcterms:modified xsi:type="dcterms:W3CDTF">2026-06-16T08:59:18Z</dcterms:modified>
</cp:coreProperties>
</file>